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302" r:id="rId4"/>
    <p:sldId id="318" r:id="rId5"/>
    <p:sldId id="319" r:id="rId6"/>
    <p:sldId id="320" r:id="rId7"/>
    <p:sldId id="321" r:id="rId8"/>
    <p:sldId id="322" r:id="rId9"/>
    <p:sldId id="328" r:id="rId10"/>
    <p:sldId id="327" r:id="rId11"/>
    <p:sldId id="325" r:id="rId12"/>
    <p:sldId id="326" r:id="rId13"/>
    <p:sldId id="316" r:id="rId14"/>
    <p:sldId id="317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1F782B-C95E-BB4F-EF83-E2C41E256CA0}" name="Johan Alexander Marin Restrepo" initials="JM" userId="S::jamarinr1@eafit.edu.co::024183f0-8ff5-4396-9915-47a329305779" providerId="AD"/>
  <p188:author id="{C1BE83EE-F701-36B5-6CBD-6B7E7EA972B1}" name="Ana Patricia Montes Pimienta" initials="AP" userId="S::apmontesp@eafit.edu.co::9786d5c3-4483-4bfe-82f8-0628dc7dae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38538-402F-4ABA-A677-131E3E67F7D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D50E2-CA81-4E4C-A6EC-D9F00E7B3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086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dat.b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0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9805" y="591538"/>
            <a:ext cx="10394115" cy="2928470"/>
          </a:xfrm>
        </p:spPr>
        <p:txBody>
          <a:bodyPr anchor="b">
            <a:normAutofit/>
          </a:bodyPr>
          <a:lstStyle/>
          <a:p>
            <a:pPr algn="l"/>
            <a:r>
              <a:rPr lang="es-CO" sz="5400" noProof="0" dirty="0">
                <a:solidFill>
                  <a:srgbClr val="FFFFFF"/>
                </a:solidFill>
              </a:rPr>
              <a:t>Detección de deslizamientos de Laderas con Machine Learning – Landslide4Sense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AE9083A-3337-1B3D-12ED-2FA92E7DA5BA}"/>
              </a:ext>
            </a:extLst>
          </p:cNvPr>
          <p:cNvSpPr txBox="1"/>
          <p:nvPr/>
        </p:nvSpPr>
        <p:spPr>
          <a:xfrm>
            <a:off x="3248423" y="5565339"/>
            <a:ext cx="6104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CO" sz="1200" b="0" i="0" u="none" strike="noStrike" baseline="0" noProof="0" dirty="0">
              <a:solidFill>
                <a:srgbClr val="000000"/>
              </a:solidFill>
            </a:endParaRPr>
          </a:p>
          <a:p>
            <a:pPr algn="ctr"/>
            <a:r>
              <a:rPr lang="es-CO" sz="1200" b="0" i="0" u="none" strike="noStrike" baseline="0" noProof="0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38" name="Imagen 37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F545A2FE-5AA4-D842-F59B-1E915EDD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5D059300-C298-0135-38DB-B7D56233BB21}"/>
              </a:ext>
            </a:extLst>
          </p:cNvPr>
          <p:cNvSpPr/>
          <p:nvPr/>
        </p:nvSpPr>
        <p:spPr>
          <a:xfrm>
            <a:off x="649805" y="4669074"/>
            <a:ext cx="10916167" cy="55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Visualization de Datos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15101D-98D9-E6EB-E946-F798146A3F76}"/>
              </a:ext>
            </a:extLst>
          </p:cNvPr>
          <p:cNvSpPr/>
          <p:nvPr/>
        </p:nvSpPr>
        <p:spPr>
          <a:xfrm>
            <a:off x="681346" y="5202075"/>
            <a:ext cx="10884626" cy="574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latin typeface="+mj-lt"/>
                <a:ea typeface="Calibri" pitchFamily="34" charset="-122"/>
                <a:cs typeface="Calibri" pitchFamily="34" charset="-120"/>
              </a:rPr>
              <a:t>Ana Patricia Montes Pimienta · Universidad EAFIT · Maestría en Ingeniería</a:t>
            </a:r>
            <a:endParaRPr lang="en-US" sz="2000" b="1" dirty="0">
              <a:latin typeface="+mj-lt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08D4115-91B5-100A-96D8-29E5C2EBF534}"/>
              </a:ext>
            </a:extLst>
          </p:cNvPr>
          <p:cNvSpPr/>
          <p:nvPr/>
        </p:nvSpPr>
        <p:spPr>
          <a:xfrm>
            <a:off x="681346" y="5765303"/>
            <a:ext cx="8765306" cy="461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+mj-lt"/>
                <a:ea typeface="Calibri" pitchFamily="34" charset="-122"/>
                <a:cs typeface="Calibri" pitchFamily="34" charset="-120"/>
              </a:rPr>
              <a:t>Medellín, mayo 2026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D59D-4578-2B8C-3D41-CB83213D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A2F32B3A-8C50-1245-C02D-3ED4F37B4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D645F41-BC16-A9C6-8037-2B6313A6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618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Contexto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430B60-074F-F049-EAB5-3C61D087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61"/>
          <a:stretch>
            <a:fillRect/>
          </a:stretch>
        </p:blipFill>
        <p:spPr>
          <a:xfrm>
            <a:off x="676644" y="2331984"/>
            <a:ext cx="5630351" cy="378070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B955F5F-8008-58FB-EC66-CB950095FF48}"/>
              </a:ext>
            </a:extLst>
          </p:cNvPr>
          <p:cNvSpPr txBox="1"/>
          <p:nvPr/>
        </p:nvSpPr>
        <p:spPr>
          <a:xfrm>
            <a:off x="838200" y="14089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O" sz="1800" b="1" noProof="0" dirty="0">
                <a:solidFill>
                  <a:schemeClr val="accent1"/>
                </a:solidFill>
              </a:rPr>
              <a:t>Descripción del problema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E32D7CF-C0B1-5F2A-8BA8-91C5ADE163CB}"/>
              </a:ext>
            </a:extLst>
          </p:cNvPr>
          <p:cNvSpPr/>
          <p:nvPr/>
        </p:nvSpPr>
        <p:spPr>
          <a:xfrm>
            <a:off x="9113578" y="1459503"/>
            <a:ext cx="1920240" cy="10515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711CF8F-AEE4-35D2-4CA0-BE6942DEC238}"/>
              </a:ext>
            </a:extLst>
          </p:cNvPr>
          <p:cNvSpPr/>
          <p:nvPr/>
        </p:nvSpPr>
        <p:spPr>
          <a:xfrm>
            <a:off x="9159298" y="153265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s-CO" sz="3000" noProof="0" dirty="0">
              <a:solidFill>
                <a:srgbClr val="002060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BEC0CF5-7E93-2DE3-A537-7BFDDDEF92D7}"/>
              </a:ext>
            </a:extLst>
          </p:cNvPr>
          <p:cNvSpPr/>
          <p:nvPr/>
        </p:nvSpPr>
        <p:spPr>
          <a:xfrm>
            <a:off x="9159298" y="206940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colombianos en la</a:t>
            </a:r>
            <a:endParaRPr lang="es-CO" sz="950" noProof="0" dirty="0"/>
          </a:p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Andina </a:t>
            </a:r>
            <a:r>
              <a:rPr lang="es-CO" sz="950" b="1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[3] </a:t>
            </a:r>
            <a:endParaRPr lang="es-CO" sz="950" b="1" noProof="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C20780ED-F445-4B3C-2871-BD902EB783F8}"/>
              </a:ext>
            </a:extLst>
          </p:cNvPr>
          <p:cNvSpPr/>
          <p:nvPr/>
        </p:nvSpPr>
        <p:spPr>
          <a:xfrm>
            <a:off x="9113578" y="2693943"/>
            <a:ext cx="192024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FD2ECCB-B39A-96BE-23FB-CA92413117D6}"/>
              </a:ext>
            </a:extLst>
          </p:cNvPr>
          <p:cNvSpPr/>
          <p:nvPr/>
        </p:nvSpPr>
        <p:spPr>
          <a:xfrm>
            <a:off x="9159298" y="276709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+1800</a:t>
            </a:r>
            <a:endParaRPr lang="es-CO" sz="3000" noProof="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72539F9-BE94-7357-EB22-CD2ADA5FA490}"/>
              </a:ext>
            </a:extLst>
          </p:cNvPr>
          <p:cNvSpPr/>
          <p:nvPr/>
        </p:nvSpPr>
        <p:spPr>
          <a:xfrm>
            <a:off x="9159298" y="330384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chemeClr val="bg1"/>
                </a:solidFill>
              </a:rPr>
              <a:t>Eventos documentados,</a:t>
            </a:r>
          </a:p>
          <a:p>
            <a:pPr algn="ctr"/>
            <a:r>
              <a:rPr lang="es-CO" sz="950" noProof="0" dirty="0">
                <a:solidFill>
                  <a:schemeClr val="bg1"/>
                </a:solidFill>
              </a:rPr>
              <a:t>Inventario SGC </a:t>
            </a:r>
            <a:r>
              <a:rPr lang="es-CO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endParaRPr lang="es-CO" sz="950" noProof="0" dirty="0">
              <a:solidFill>
                <a:schemeClr val="bg1"/>
              </a:solidFill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6B464DF6-5DAF-26BF-1090-5A0DADC885D8}"/>
              </a:ext>
            </a:extLst>
          </p:cNvPr>
          <p:cNvSpPr/>
          <p:nvPr/>
        </p:nvSpPr>
        <p:spPr>
          <a:xfrm>
            <a:off x="6934200" y="2693943"/>
            <a:ext cx="1920240" cy="1051560"/>
          </a:xfrm>
          <a:prstGeom prst="rect">
            <a:avLst/>
          </a:prstGeom>
          <a:solidFill>
            <a:srgbClr val="ACCBF9"/>
          </a:solidFill>
          <a:ln w="635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7C9D2719-4B6A-FE8F-C1E1-202BB2D266CB}"/>
              </a:ext>
            </a:extLst>
          </p:cNvPr>
          <p:cNvSpPr/>
          <p:nvPr/>
        </p:nvSpPr>
        <p:spPr>
          <a:xfrm>
            <a:off x="6979920" y="276709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-25%</a:t>
            </a:r>
            <a:endParaRPr lang="es-CO" sz="3000" noProof="0" dirty="0">
              <a:solidFill>
                <a:srgbClr val="002060"/>
              </a:solidFill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717001C-B800-8E04-DDE0-EEBCEBC4FF4E}"/>
              </a:ext>
            </a:extLst>
          </p:cNvPr>
          <p:cNvSpPr/>
          <p:nvPr/>
        </p:nvSpPr>
        <p:spPr>
          <a:xfrm>
            <a:off x="6979920" y="330384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rendimiento de modelos sin adaptación local  </a:t>
            </a:r>
            <a:r>
              <a:rPr lang="es-CO" sz="950" b="1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CO" sz="950" noProof="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9C1904EA-2866-BF31-4547-5A55F819F91C}"/>
              </a:ext>
            </a:extLst>
          </p:cNvPr>
          <p:cNvSpPr/>
          <p:nvPr/>
        </p:nvSpPr>
        <p:spPr>
          <a:xfrm>
            <a:off x="6934200" y="1459503"/>
            <a:ext cx="1920240" cy="1051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01C50C8-E2FA-EE77-C777-1DA67C2348AF}"/>
              </a:ext>
            </a:extLst>
          </p:cNvPr>
          <p:cNvSpPr/>
          <p:nvPr/>
        </p:nvSpPr>
        <p:spPr>
          <a:xfrm>
            <a:off x="6979920" y="153265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s-CO" sz="3000" noProof="0" dirty="0">
              <a:solidFill>
                <a:srgbClr val="002060"/>
              </a:solidFill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D5874EA-7413-F571-E707-4DFC2E045EEB}"/>
              </a:ext>
            </a:extLst>
          </p:cNvPr>
          <p:cNvSpPr/>
          <p:nvPr/>
        </p:nvSpPr>
        <p:spPr>
          <a:xfrm>
            <a:off x="6979920" y="206940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eventos asociados a lluvias intensas y fenómeno de la Niña </a:t>
            </a:r>
            <a:r>
              <a:rPr lang="es-CO" sz="950" b="1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endParaRPr lang="es-CO" sz="950" b="1" noProof="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95337E5-4DB6-40C1-1AD7-FFFF46F93889}"/>
              </a:ext>
            </a:extLst>
          </p:cNvPr>
          <p:cNvSpPr txBox="1"/>
          <p:nvPr/>
        </p:nvSpPr>
        <p:spPr>
          <a:xfrm>
            <a:off x="7671687" y="1080783"/>
            <a:ext cx="2593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Contexto Colombiano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414DC7E-8141-C47A-73E0-AB9FAA0A6630}"/>
              </a:ext>
            </a:extLst>
          </p:cNvPr>
          <p:cNvSpPr txBox="1"/>
          <p:nvPr/>
        </p:nvSpPr>
        <p:spPr>
          <a:xfrm>
            <a:off x="6604766" y="4420717"/>
            <a:ext cx="51090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noProof="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b="1" noProof="0" dirty="0">
                <a:solidFill>
                  <a:schemeClr val="accent1"/>
                </a:solidFill>
              </a:rPr>
              <a:t>Pregunta planteada: </a:t>
            </a:r>
          </a:p>
          <a:p>
            <a:endParaRPr lang="es-CO" b="1" dirty="0">
              <a:solidFill>
                <a:schemeClr val="accent1"/>
              </a:solidFill>
            </a:endParaRPr>
          </a:p>
          <a:p>
            <a:r>
              <a:rPr lang="es-ES" dirty="0"/>
              <a:t>¿Qué modelo usar como punto de partida en Colombia?</a:t>
            </a:r>
          </a:p>
          <a:p>
            <a:pPr algn="just"/>
            <a:endParaRPr lang="es-CO" sz="1800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2657BBB-44FC-9BA0-997A-52ED6E3F7DA2}"/>
              </a:ext>
            </a:extLst>
          </p:cNvPr>
          <p:cNvSpPr txBox="1"/>
          <p:nvPr/>
        </p:nvSpPr>
        <p:spPr>
          <a:xfrm>
            <a:off x="1242413" y="1914271"/>
            <a:ext cx="48535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noProof="0" dirty="0">
                <a:solidFill>
                  <a:schemeClr val="tx2"/>
                </a:solidFill>
              </a:rPr>
              <a:t>Fatalidades globales por tipo de desastre </a:t>
            </a:r>
            <a:r>
              <a:rPr lang="es-CO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r>
              <a:rPr lang="es-CO" sz="1400" b="1" noProof="0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8942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9946-A9E1-8D8F-D4BE-11EC0C3D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DA9AC626-B75D-912A-7625-5E11CC4B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855D236-29CC-DFC7-D14B-495E376A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 err="1">
                <a:solidFill>
                  <a:schemeClr val="tx2"/>
                </a:solidFill>
              </a:rPr>
              <a:t>Dataset</a:t>
            </a:r>
            <a:endParaRPr lang="es-CO" b="1" noProof="0" dirty="0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CE532E-96F3-BE1A-E71A-B5C18A176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4484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Landslide4Sense</a:t>
            </a: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83FA9B-9EF9-FBA2-EA23-55CBCDE32940}"/>
              </a:ext>
            </a:extLst>
          </p:cNvPr>
          <p:cNvSpPr txBox="1">
            <a:spLocks/>
          </p:cNvSpPr>
          <p:nvPr/>
        </p:nvSpPr>
        <p:spPr>
          <a:xfrm>
            <a:off x="1121354" y="2212909"/>
            <a:ext cx="8087960" cy="3900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CO" sz="1600" b="1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805729-96EC-DFDC-55CD-F8EA4E7864C0}"/>
              </a:ext>
            </a:extLst>
          </p:cNvPr>
          <p:cNvSpPr txBox="1">
            <a:spLocks/>
          </p:cNvSpPr>
          <p:nvPr/>
        </p:nvSpPr>
        <p:spPr>
          <a:xfrm>
            <a:off x="836365" y="1809317"/>
            <a:ext cx="5060748" cy="19087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Landslide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mapping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from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Sentinel2 </a:t>
            </a: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dataset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[5]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</a:rPr>
              <a:t> 3.799 train · 245 </a:t>
            </a:r>
            <a:r>
              <a:rPr lang="en-US" sz="1700" dirty="0" err="1">
                <a:solidFill>
                  <a:srgbClr val="374151"/>
                </a:solidFill>
              </a:rPr>
              <a:t>validacion</a:t>
            </a:r>
            <a:r>
              <a:rPr lang="en-US" sz="1700" dirty="0">
                <a:solidFill>
                  <a:srgbClr val="374151"/>
                </a:solidFill>
              </a:rPr>
              <a:t> · 800 test</a:t>
            </a:r>
            <a:endParaRPr lang="en-US" sz="1700" dirty="0"/>
          </a:p>
          <a:p>
            <a:pPr marL="0" indent="0">
              <a:buNone/>
            </a:pPr>
            <a:r>
              <a:rPr lang="es-CO" sz="17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Imágenes satelitales Sentinel-1, Sentinel-2 + DEM</a:t>
            </a:r>
          </a:p>
          <a:p>
            <a:pPr marL="0" indent="0">
              <a:buNone/>
            </a:pPr>
            <a:r>
              <a:rPr lang="es-CO" sz="17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Nepal, Perú e Italia — tres eventos documentados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7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Dimensión de datos: 128 x 128 x 14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76948349-269B-45FB-16DF-EEB8F7D90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22456"/>
              </p:ext>
            </p:extLst>
          </p:nvPr>
        </p:nvGraphicFramePr>
        <p:xfrm>
          <a:off x="836364" y="3902514"/>
          <a:ext cx="5060749" cy="2026444"/>
        </p:xfrm>
        <a:graphic>
          <a:graphicData uri="http://schemas.openxmlformats.org/drawingml/2006/table">
            <a:tbl>
              <a:tblPr/>
              <a:tblGrid>
                <a:gridCol w="77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Canales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Información  [6,7] 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0–6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Sentinel-2 óptico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B2-B4, B8, B8A, B11, B12 (SWIR, NIR)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Sentinel-1 SAR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VV, VH (</a:t>
                      </a:r>
                      <a:r>
                        <a:rPr lang="es-CO" sz="1200" noProof="0" dirty="0" err="1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backscatter</a:t>
                      </a: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radar)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ALOS PALSAR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Elevación DEM + Pendiente derivada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11–13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Sentinel-2 Red-Edge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B5, B6, B7 (estrés vegetal)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6">
            <a:extLst>
              <a:ext uri="{FF2B5EF4-FFF2-40B4-BE49-F238E27FC236}">
                <a16:creationId xmlns:a16="http://schemas.microsoft.com/office/drawing/2014/main" id="{B4325CEB-FE6D-BC21-828D-4BB72FD83C0A}"/>
              </a:ext>
            </a:extLst>
          </p:cNvPr>
          <p:cNvSpPr/>
          <p:nvPr/>
        </p:nvSpPr>
        <p:spPr>
          <a:xfrm>
            <a:off x="7417505" y="177548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Modelos</a:t>
            </a:r>
            <a:r>
              <a:rPr lang="en-US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evaluados</a:t>
            </a:r>
            <a:endParaRPr lang="en-US" b="1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A9E2F06-1569-DC80-BA89-1B5C8212510D}"/>
              </a:ext>
            </a:extLst>
          </p:cNvPr>
          <p:cNvSpPr/>
          <p:nvPr/>
        </p:nvSpPr>
        <p:spPr>
          <a:xfrm>
            <a:off x="7668965" y="2212909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F1C3132F-E48A-9F60-0AD2-4F26A5839C9A}"/>
              </a:ext>
            </a:extLst>
          </p:cNvPr>
          <p:cNvSpPr/>
          <p:nvPr/>
        </p:nvSpPr>
        <p:spPr>
          <a:xfrm>
            <a:off x="9812725" y="221228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</a:rPr>
              <a:t>F1 0.837</a:t>
            </a:r>
            <a:endParaRPr lang="en-US" sz="14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CDB0560-048B-04DA-2D4B-E75C2144B47B}"/>
              </a:ext>
            </a:extLst>
          </p:cNvPr>
          <p:cNvSpPr/>
          <p:nvPr/>
        </p:nvSpPr>
        <p:spPr>
          <a:xfrm>
            <a:off x="7668965" y="2596957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SVM (RBF)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828C996-1060-9027-FE73-00A164D65987}"/>
              </a:ext>
            </a:extLst>
          </p:cNvPr>
          <p:cNvSpPr/>
          <p:nvPr/>
        </p:nvSpPr>
        <p:spPr>
          <a:xfrm>
            <a:off x="9812725" y="259633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74151"/>
                </a:solidFill>
              </a:rPr>
              <a:t>F1 0.797</a:t>
            </a:r>
            <a:endParaRPr lang="en-US" sz="14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684F99AC-96A4-D393-BA9C-76736EB8D4D9}"/>
              </a:ext>
            </a:extLst>
          </p:cNvPr>
          <p:cNvSpPr/>
          <p:nvPr/>
        </p:nvSpPr>
        <p:spPr>
          <a:xfrm>
            <a:off x="7668965" y="2981005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Logistic Reg.</a:t>
            </a:r>
            <a:endParaRPr lang="en-US" sz="14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F081350-707B-5D08-1346-38BE0F439A64}"/>
              </a:ext>
            </a:extLst>
          </p:cNvPr>
          <p:cNvSpPr/>
          <p:nvPr/>
        </p:nvSpPr>
        <p:spPr>
          <a:xfrm>
            <a:off x="9812725" y="298037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74151"/>
                </a:solidFill>
              </a:rPr>
              <a:t>F1 0.789</a:t>
            </a:r>
            <a:endParaRPr lang="en-US" sz="14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7D2ADC05-A573-D36D-B86A-2B94289761FE}"/>
              </a:ext>
            </a:extLst>
          </p:cNvPr>
          <p:cNvSpPr/>
          <p:nvPr/>
        </p:nvSpPr>
        <p:spPr>
          <a:xfrm>
            <a:off x="7668965" y="3365053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ResNet-50</a:t>
            </a:r>
            <a:endParaRPr lang="en-US" sz="14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B8AD271-D746-CBE3-B918-D4E6A9308A9A}"/>
              </a:ext>
            </a:extLst>
          </p:cNvPr>
          <p:cNvSpPr/>
          <p:nvPr/>
        </p:nvSpPr>
        <p:spPr>
          <a:xfrm>
            <a:off x="9812725" y="336442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F1 0.784</a:t>
            </a:r>
            <a:endParaRPr lang="en-US" sz="14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25050202-DC5E-15FF-2ED4-BEBD957A56B0}"/>
              </a:ext>
            </a:extLst>
          </p:cNvPr>
          <p:cNvSpPr/>
          <p:nvPr/>
        </p:nvSpPr>
        <p:spPr>
          <a:xfrm>
            <a:off x="7668965" y="3749101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EfficientNet-B4</a:t>
            </a:r>
            <a:endParaRPr lang="en-US" sz="14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E003FF9-BCC8-704F-FB5C-813722344A37}"/>
              </a:ext>
            </a:extLst>
          </p:cNvPr>
          <p:cNvSpPr/>
          <p:nvPr/>
        </p:nvSpPr>
        <p:spPr>
          <a:xfrm>
            <a:off x="9812725" y="374847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F1 0.755</a:t>
            </a:r>
            <a:endParaRPr lang="en-US" sz="14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98E0A8C0-2B9E-B095-0903-310F692E8AB9}"/>
              </a:ext>
            </a:extLst>
          </p:cNvPr>
          <p:cNvSpPr/>
          <p:nvPr/>
        </p:nvSpPr>
        <p:spPr>
          <a:xfrm>
            <a:off x="7668965" y="4133149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U-Net ResNet-34</a:t>
            </a:r>
            <a:endParaRPr lang="en-US" sz="14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0BB291D9-21E1-ED5E-AB0A-D4C8A6284FAC}"/>
              </a:ext>
            </a:extLst>
          </p:cNvPr>
          <p:cNvSpPr/>
          <p:nvPr/>
        </p:nvSpPr>
        <p:spPr>
          <a:xfrm>
            <a:off x="9812725" y="413252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F1 0.444</a:t>
            </a:r>
            <a:endParaRPr lang="en-US" sz="1400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25FFF54A-5CB5-2CF0-35F3-F56411CC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889" y="1370519"/>
            <a:ext cx="5425431" cy="411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24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A75D9-C06E-8B46-C5BF-C605D00A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rvent-charming-galileo/mnt/Landslide_ML/visualizacion_datos/data/figures/nb01_h1_f1_modelos.png">
            <a:extLst>
              <a:ext uri="{FF2B5EF4-FFF2-40B4-BE49-F238E27FC236}">
                <a16:creationId xmlns:a16="http://schemas.microsoft.com/office/drawing/2014/main" id="{344C9846-D167-F554-2E91-3C2C2703B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35524" y="1770465"/>
            <a:ext cx="8412480" cy="4096512"/>
          </a:xfrm>
          <a:prstGeom prst="rect">
            <a:avLst/>
          </a:prstGeom>
        </p:spPr>
      </p:pic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CF3D4F25-4907-10FB-69FE-CEE79C372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230435-F1C9-40CB-A8EC-C681ABF56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Rendimiento global por modelo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D76185-47A4-ECC7-6484-56E571BB80B5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Hallazgos </a:t>
            </a:r>
          </a:p>
        </p:txBody>
      </p:sp>
    </p:spTree>
    <p:extLst>
      <p:ext uri="{BB962C8B-B14F-4D97-AF65-F5344CB8AC3E}">
        <p14:creationId xmlns:p14="http://schemas.microsoft.com/office/powerpoint/2010/main" val="142641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B9C8-F67D-7114-C75C-2E4B9317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5F1C765C-824F-E0D5-227A-AD5AC5A16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DC18D0-A80D-0230-992A-09308679CD3F}"/>
              </a:ext>
            </a:extLst>
          </p:cNvPr>
          <p:cNvSpPr txBox="1">
            <a:spLocks/>
          </p:cNvSpPr>
          <p:nvPr/>
        </p:nvSpPr>
        <p:spPr>
          <a:xfrm>
            <a:off x="878246" y="6067386"/>
            <a:ext cx="6832601" cy="5806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400" i="1" dirty="0">
                <a:solidFill>
                  <a:srgbClr val="64748B"/>
                </a:solidFill>
              </a:rPr>
              <a:t>RF </a:t>
            </a:r>
            <a:r>
              <a:rPr lang="en-US" sz="1400" i="1" dirty="0" err="1">
                <a:solidFill>
                  <a:srgbClr val="64748B"/>
                </a:solidFill>
              </a:rPr>
              <a:t>prioriza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cobertura</a:t>
            </a:r>
            <a:r>
              <a:rPr lang="en-US" sz="1400" i="1" dirty="0">
                <a:solidFill>
                  <a:srgbClr val="64748B"/>
                </a:solidFill>
              </a:rPr>
              <a:t> (Recall=0.96) — </a:t>
            </a:r>
            <a:r>
              <a:rPr lang="en-US" sz="1400" i="1" dirty="0" err="1">
                <a:solidFill>
                  <a:srgbClr val="64748B"/>
                </a:solidFill>
              </a:rPr>
              <a:t>crítico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en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detección</a:t>
            </a:r>
            <a:r>
              <a:rPr lang="en-US" sz="1400" i="1" dirty="0">
                <a:solidFill>
                  <a:srgbClr val="64748B"/>
                </a:solidFill>
              </a:rPr>
              <a:t> de </a:t>
            </a:r>
            <a:r>
              <a:rPr lang="en-US" sz="1400" i="1" dirty="0" err="1">
                <a:solidFill>
                  <a:srgbClr val="64748B"/>
                </a:solidFill>
              </a:rPr>
              <a:t>desastres</a:t>
            </a:r>
            <a:r>
              <a:rPr lang="en-US" sz="1400" i="1" dirty="0">
                <a:solidFill>
                  <a:srgbClr val="64748B"/>
                </a:solidFill>
              </a:rPr>
              <a:t>.</a:t>
            </a:r>
            <a:endParaRPr lang="es-CO" sz="1600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D6319A-AC88-AEA9-5725-9E051B691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Precisión vs. Cobertura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A5BAB-1B61-4D82-B762-3225FA7F7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859" y="1746194"/>
            <a:ext cx="6029481" cy="427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1AEE65A-608A-202F-D2BC-67FE211940C7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Hallazgos </a:t>
            </a:r>
          </a:p>
        </p:txBody>
      </p:sp>
    </p:spTree>
    <p:extLst>
      <p:ext uri="{BB962C8B-B14F-4D97-AF65-F5344CB8AC3E}">
        <p14:creationId xmlns:p14="http://schemas.microsoft.com/office/powerpoint/2010/main" val="173915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F26D-1530-D25B-F4E9-56920C57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ervent-charming-galileo/mnt/Landslide_ML/visualizacion_datos/data/figures/nb01_h3_canales.png">
            <a:extLst>
              <a:ext uri="{FF2B5EF4-FFF2-40B4-BE49-F238E27FC236}">
                <a16:creationId xmlns:a16="http://schemas.microsoft.com/office/drawing/2014/main" id="{2A3E3A90-7357-237E-E831-AE2795F2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88079" y="1698070"/>
            <a:ext cx="8412480" cy="4096512"/>
          </a:xfrm>
          <a:prstGeom prst="rect">
            <a:avLst/>
          </a:prstGeom>
        </p:spPr>
      </p:pic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78406AF5-69A7-9444-30F4-0FEE861DD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26A56B-33BA-1718-C14F-69455C19305A}"/>
              </a:ext>
            </a:extLst>
          </p:cNvPr>
          <p:cNvSpPr txBox="1">
            <a:spLocks/>
          </p:cNvSpPr>
          <p:nvPr/>
        </p:nvSpPr>
        <p:spPr>
          <a:xfrm>
            <a:off x="878246" y="6019262"/>
            <a:ext cx="8336874" cy="314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RedEdge3 </a:t>
            </a:r>
            <a:r>
              <a:rPr lang="en-US" sz="1400" i="1" dirty="0" err="1">
                <a:solidFill>
                  <a:srgbClr val="64748B"/>
                </a:solidFill>
              </a:rPr>
              <a:t>tiene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una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brecha</a:t>
            </a:r>
            <a:r>
              <a:rPr lang="en-US" sz="1400" i="1" dirty="0">
                <a:solidFill>
                  <a:srgbClr val="64748B"/>
                </a:solidFill>
              </a:rPr>
              <a:t> Δ=0.807 — 4× mayor </a:t>
            </a:r>
            <a:r>
              <a:rPr lang="en-US" sz="1400" i="1" dirty="0" err="1">
                <a:solidFill>
                  <a:srgbClr val="64748B"/>
                </a:solidFill>
              </a:rPr>
              <a:t>que</a:t>
            </a:r>
            <a:r>
              <a:rPr lang="en-US" sz="1400" i="1" dirty="0">
                <a:solidFill>
                  <a:srgbClr val="64748B"/>
                </a:solidFill>
              </a:rPr>
              <a:t> SAR-VH</a:t>
            </a:r>
            <a:endParaRPr lang="es-CO" sz="16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600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CD6ADA-EE20-8251-74F2-27D1C8B2F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Poder discriminativo de canales satelitales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B1B549-AB6E-4EC1-9A81-DB1BD234152F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Hallazgos</a:t>
            </a:r>
          </a:p>
        </p:txBody>
      </p:sp>
    </p:spTree>
    <p:extLst>
      <p:ext uri="{BB962C8B-B14F-4D97-AF65-F5344CB8AC3E}">
        <p14:creationId xmlns:p14="http://schemas.microsoft.com/office/powerpoint/2010/main" val="273690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8C83-9CBE-F97F-8A53-3140621C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8A9524D8-36E5-A839-5C8C-5BC01A24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D4F8E6-AE1D-05C5-7DC0-4BE8F06E3C1C}"/>
              </a:ext>
            </a:extLst>
          </p:cNvPr>
          <p:cNvSpPr txBox="1">
            <a:spLocks/>
          </p:cNvSpPr>
          <p:nvPr/>
        </p:nvSpPr>
        <p:spPr>
          <a:xfrm>
            <a:off x="948773" y="6019262"/>
            <a:ext cx="6199436" cy="782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RF: </a:t>
            </a:r>
            <a:r>
              <a:rPr lang="en-US" sz="1400" i="1" dirty="0" err="1">
                <a:solidFill>
                  <a:srgbClr val="64748B"/>
                </a:solidFill>
              </a:rPr>
              <a:t>menor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dispersión</a:t>
            </a:r>
            <a:r>
              <a:rPr lang="en-US" sz="1400" i="1" dirty="0">
                <a:solidFill>
                  <a:srgbClr val="64748B"/>
                </a:solidFill>
              </a:rPr>
              <a:t> entre folds — </a:t>
            </a:r>
            <a:r>
              <a:rPr lang="en-US" sz="1400" i="1" dirty="0" err="1">
                <a:solidFill>
                  <a:srgbClr val="64748B"/>
                </a:solidFill>
              </a:rPr>
              <a:t>resultado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más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 err="1">
                <a:solidFill>
                  <a:srgbClr val="64748B"/>
                </a:solidFill>
              </a:rPr>
              <a:t>predecible</a:t>
            </a:r>
            <a:endParaRPr lang="es-CO" sz="16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600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B15F40-6302-7696-F836-AD519B590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Variabilidad</a:t>
            </a:r>
            <a:r>
              <a:rPr lang="en-US" sz="2400" b="1" dirty="0">
                <a:solidFill>
                  <a:schemeClr val="accent1"/>
                </a:solidFill>
              </a:rPr>
              <a:t> entre </a:t>
            </a:r>
            <a:r>
              <a:rPr lang="en-US" sz="2400" b="1" dirty="0" err="1">
                <a:solidFill>
                  <a:schemeClr val="accent1"/>
                </a:solidFill>
              </a:rPr>
              <a:t>experimentos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6" name="Image 0" descr="/sessions/fervent-charming-galileo/mnt/Landslide_ML/visualizacion_datos/data/figures/nb01_h4_variabilidad.png">
            <a:extLst>
              <a:ext uri="{FF2B5EF4-FFF2-40B4-BE49-F238E27FC236}">
                <a16:creationId xmlns:a16="http://schemas.microsoft.com/office/drawing/2014/main" id="{29889207-ACCD-3D80-6D72-FE288896BC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7924" y="1831130"/>
            <a:ext cx="8412480" cy="4096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326D1CD-28B9-7F73-C516-DD4DE98B6DA2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Hallazgos</a:t>
            </a:r>
          </a:p>
        </p:txBody>
      </p:sp>
    </p:spTree>
    <p:extLst>
      <p:ext uri="{BB962C8B-B14F-4D97-AF65-F5344CB8AC3E}">
        <p14:creationId xmlns:p14="http://schemas.microsoft.com/office/powerpoint/2010/main" val="415179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726A-1403-7C12-EA63-E309B0BC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F4EBD55E-127B-0887-E691-F45FF4AC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6575EB5-1EA5-7854-C946-95854591D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181"/>
            <a:ext cx="10287000" cy="171429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s-ES" sz="2400" dirty="0"/>
              <a:t>Random Forest, entrenado con datos internacionales de Landslide4Sense, es el modelo más adecuado como punto de partida para la detección de deslizamientos en Colombia, dado que — bajo un protocolo de evaluación comparable con la literatura — maximiza simultáneamente el rendimiento, la estabilidad entre experimentos y la viabilidad operativa con recursos limitados.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5133C8F-B0BF-07FC-D10A-023178713811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 err="1">
                <a:solidFill>
                  <a:schemeClr val="tx2"/>
                </a:solidFill>
              </a:rPr>
              <a:t>Hipotesis</a:t>
            </a:r>
            <a:endParaRPr lang="es-CO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44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41F0-05C2-D9A2-3F7D-33E22B32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C97DF8BD-7329-40C2-AEE9-3C0907A14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B3C18DE-7BF7-255A-1F5C-56DA1FD80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308" y="1758241"/>
            <a:ext cx="7437384" cy="405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CF9D7A09-071C-25E9-4C67-1FA8CB93776B}"/>
              </a:ext>
            </a:extLst>
          </p:cNvPr>
          <p:cNvSpPr/>
          <p:nvPr/>
        </p:nvSpPr>
        <p:spPr>
          <a:xfrm>
            <a:off x="1240236" y="589124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Mismo modelo, distinto protocolo → distinto F1 reportado</a:t>
            </a:r>
            <a:endParaRPr lang="en-US" sz="105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267E75-E2BF-D83E-4DB0-FCB2FF60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chemeClr val="accent1"/>
                </a:solidFill>
              </a:rPr>
              <a:t>¿Los resultados de la literatura son comparables?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F7BCA98-FF27-B261-228E-E5B32F8D9D49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Análisis Aclaratorio </a:t>
            </a:r>
          </a:p>
        </p:txBody>
      </p:sp>
    </p:spTree>
    <p:extLst>
      <p:ext uri="{BB962C8B-B14F-4D97-AF65-F5344CB8AC3E}">
        <p14:creationId xmlns:p14="http://schemas.microsoft.com/office/powerpoint/2010/main" val="27547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E8C7-1A6B-9271-0256-CD4368AE1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F5B99FD0-1BF4-9286-7909-0C63DE47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D7487D09-A51D-377A-3C2A-63ADD4C123FA}"/>
              </a:ext>
            </a:extLst>
          </p:cNvPr>
          <p:cNvSpPr/>
          <p:nvPr/>
        </p:nvSpPr>
        <p:spPr>
          <a:xfrm>
            <a:off x="1240236" y="589124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4748B"/>
                </a:solidFill>
              </a:rPr>
              <a:t>RF </a:t>
            </a:r>
            <a:r>
              <a:rPr lang="en-US" sz="1050" i="1" dirty="0" err="1">
                <a:solidFill>
                  <a:srgbClr val="64748B"/>
                </a:solidFill>
              </a:rPr>
              <a:t>alcanza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el</a:t>
            </a:r>
            <a:r>
              <a:rPr lang="en-US" sz="1050" i="1" dirty="0">
                <a:solidFill>
                  <a:srgbClr val="64748B"/>
                </a:solidFill>
              </a:rPr>
              <a:t> benchmark 2025 </a:t>
            </a:r>
            <a:r>
              <a:rPr lang="en-US" sz="1050" i="1" dirty="0" err="1">
                <a:solidFill>
                  <a:srgbClr val="64748B"/>
                </a:solidFill>
              </a:rPr>
              <a:t>en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cobertura</a:t>
            </a:r>
            <a:r>
              <a:rPr lang="en-US" sz="1050" i="1" dirty="0">
                <a:solidFill>
                  <a:srgbClr val="64748B"/>
                </a:solidFill>
              </a:rPr>
              <a:t> — la </a:t>
            </a:r>
            <a:r>
              <a:rPr lang="en-US" sz="1050" i="1" dirty="0" err="1">
                <a:solidFill>
                  <a:srgbClr val="64748B"/>
                </a:solidFill>
              </a:rPr>
              <a:t>brecha</a:t>
            </a:r>
            <a:r>
              <a:rPr lang="en-US" sz="1050" i="1" dirty="0">
                <a:solidFill>
                  <a:srgbClr val="64748B"/>
                </a:solidFill>
              </a:rPr>
              <a:t> no es </a:t>
            </a:r>
            <a:r>
              <a:rPr lang="en-US" sz="1050" i="1" dirty="0" err="1">
                <a:solidFill>
                  <a:srgbClr val="64748B"/>
                </a:solidFill>
              </a:rPr>
              <a:t>insalvable</a:t>
            </a:r>
            <a:endParaRPr lang="en-US" sz="105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869F94-AADB-07A6-7650-3027DF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26947"/>
            <a:ext cx="7891450" cy="471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chemeClr val="accent1"/>
                </a:solidFill>
              </a:rPr>
              <a:t>¿Qué tan grande es la brecha frente al estado del arte?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7B62F20-5550-7A6A-6B3B-BC1B52D84D80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Análisis Aclaratorio 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6B14D8B-D9BA-DFE9-D7F4-2B1127582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896" y="1727668"/>
            <a:ext cx="5003800" cy="405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94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AB635-42D7-67FC-4BB6-754837AB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CE23D58A-9DBC-8B8F-F207-27EFC638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A802673F-C408-AFB3-DE25-03DFAA53C0C8}"/>
              </a:ext>
            </a:extLst>
          </p:cNvPr>
          <p:cNvSpPr/>
          <p:nvPr/>
        </p:nvSpPr>
        <p:spPr>
          <a:xfrm>
            <a:off x="1240236" y="589124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 err="1">
                <a:solidFill>
                  <a:srgbClr val="64748B"/>
                </a:solidFill>
              </a:rPr>
              <a:t>Modelos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clásicos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igualan</a:t>
            </a:r>
            <a:r>
              <a:rPr lang="en-US" sz="1050" i="1" dirty="0">
                <a:solidFill>
                  <a:srgbClr val="64748B"/>
                </a:solidFill>
              </a:rPr>
              <a:t> o </a:t>
            </a:r>
            <a:r>
              <a:rPr lang="en-US" sz="1050" i="1" dirty="0" err="1">
                <a:solidFill>
                  <a:srgbClr val="64748B"/>
                </a:solidFill>
              </a:rPr>
              <a:t>superan</a:t>
            </a:r>
            <a:r>
              <a:rPr lang="en-US" sz="1050" i="1" dirty="0">
                <a:solidFill>
                  <a:srgbClr val="64748B"/>
                </a:solidFill>
              </a:rPr>
              <a:t> a Deep Learning con </a:t>
            </a:r>
            <a:r>
              <a:rPr lang="en-US" sz="1050" i="1" dirty="0" err="1">
                <a:solidFill>
                  <a:srgbClr val="64748B"/>
                </a:solidFill>
              </a:rPr>
              <a:t>mucho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menor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costo</a:t>
            </a:r>
            <a:endParaRPr lang="en-US" sz="105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13C261-FFBB-2C49-FF11-B85E3DB35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chemeClr val="accent1"/>
                </a:solidFill>
              </a:rPr>
              <a:t> ¿Vale la pena invertir en arquitectura compleja?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0380685-F858-C5EF-CCFA-54184BEA24C3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Análisis Aclaratorio </a:t>
            </a:r>
          </a:p>
        </p:txBody>
      </p:sp>
      <p:pic>
        <p:nvPicPr>
          <p:cNvPr id="2" name="Image 0" descr="/sessions/fervent-charming-galileo/mnt/Landslide_ML/visualizacion_datos/data/figures/nb02_a3_complejidad.png">
            <a:extLst>
              <a:ext uri="{FF2B5EF4-FFF2-40B4-BE49-F238E27FC236}">
                <a16:creationId xmlns:a16="http://schemas.microsoft.com/office/drawing/2014/main" id="{4F24653B-9D77-D260-817D-0B10E5897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88079" y="1746197"/>
            <a:ext cx="8412480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8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7FD5-B8F2-6668-9A38-C2DE36E8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27B42DED-ECBE-78AA-E9C5-ADD95C79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707E04AC-31C5-DF16-368A-3A9BA81FF762}"/>
              </a:ext>
            </a:extLst>
          </p:cNvPr>
          <p:cNvSpPr/>
          <p:nvPr/>
        </p:nvSpPr>
        <p:spPr>
          <a:xfrm>
            <a:off x="1240236" y="589124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4748B"/>
                </a:solidFill>
              </a:rPr>
              <a:t>RF </a:t>
            </a:r>
            <a:r>
              <a:rPr lang="en-US" sz="1050" i="1" dirty="0" err="1">
                <a:solidFill>
                  <a:srgbClr val="64748B"/>
                </a:solidFill>
              </a:rPr>
              <a:t>lidera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en</a:t>
            </a:r>
            <a:r>
              <a:rPr lang="en-US" sz="1050" i="1" dirty="0">
                <a:solidFill>
                  <a:srgbClr val="64748B"/>
                </a:solidFill>
              </a:rPr>
              <a:t> F1, </a:t>
            </a:r>
            <a:r>
              <a:rPr lang="en-US" sz="1050" i="1" dirty="0" err="1">
                <a:solidFill>
                  <a:srgbClr val="64748B"/>
                </a:solidFill>
              </a:rPr>
              <a:t>consistencia</a:t>
            </a:r>
            <a:r>
              <a:rPr lang="en-US" sz="1050" i="1" dirty="0">
                <a:solidFill>
                  <a:srgbClr val="64748B"/>
                </a:solidFill>
              </a:rPr>
              <a:t> e </a:t>
            </a:r>
            <a:r>
              <a:rPr lang="en-US" sz="1050" i="1" dirty="0" err="1">
                <a:solidFill>
                  <a:srgbClr val="64748B"/>
                </a:solidFill>
              </a:rPr>
              <a:t>interpretabilidad</a:t>
            </a:r>
            <a:r>
              <a:rPr lang="en-US" sz="1050" i="1" dirty="0">
                <a:solidFill>
                  <a:srgbClr val="64748B"/>
                </a:solidFill>
              </a:rPr>
              <a:t> — </a:t>
            </a:r>
            <a:r>
              <a:rPr lang="en-US" sz="1050" i="1" dirty="0" err="1">
                <a:solidFill>
                  <a:srgbClr val="64748B"/>
                </a:solidFill>
              </a:rPr>
              <a:t>perfil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más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sólido</a:t>
            </a:r>
            <a:r>
              <a:rPr lang="en-US" sz="1050" i="1" dirty="0">
                <a:solidFill>
                  <a:srgbClr val="64748B"/>
                </a:solidFill>
              </a:rPr>
              <a:t> para </a:t>
            </a:r>
            <a:r>
              <a:rPr lang="en-US" sz="1050" i="1" dirty="0" err="1">
                <a:solidFill>
                  <a:srgbClr val="64748B"/>
                </a:solidFill>
              </a:rPr>
              <a:t>contexto</a:t>
            </a:r>
            <a:r>
              <a:rPr lang="en-US" sz="1050" i="1" dirty="0">
                <a:solidFill>
                  <a:srgbClr val="64748B"/>
                </a:solidFill>
              </a:rPr>
              <a:t> </a:t>
            </a:r>
            <a:r>
              <a:rPr lang="en-US" sz="1050" i="1" dirty="0" err="1">
                <a:solidFill>
                  <a:srgbClr val="64748B"/>
                </a:solidFill>
              </a:rPr>
              <a:t>colombiano</a:t>
            </a:r>
            <a:endParaRPr lang="en-US" sz="105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2EF4FDF-4EB3-C3F1-8FA3-169B3D126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chemeClr val="accent1"/>
                </a:solidFill>
              </a:rPr>
              <a:t>¿Cuál modelo elegir como punto de partida en Colombia?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E4BCDF8-0857-6D2D-704C-AF07C9ECC3EC}"/>
              </a:ext>
            </a:extLst>
          </p:cNvPr>
          <p:cNvSpPr txBox="1">
            <a:spLocks/>
          </p:cNvSpPr>
          <p:nvPr/>
        </p:nvSpPr>
        <p:spPr>
          <a:xfrm>
            <a:off x="838200" y="292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solidFill>
                  <a:schemeClr val="tx2"/>
                </a:solidFill>
              </a:rPr>
              <a:t>Análisis Aclaratorio </a:t>
            </a:r>
          </a:p>
        </p:txBody>
      </p:sp>
      <p:pic>
        <p:nvPicPr>
          <p:cNvPr id="2" name="Image 0" descr="/sessions/fervent-charming-galileo/mnt/Landslide_ML/visualizacion_datos/data/figures/nb02_a4_scorecard.png">
            <a:extLst>
              <a:ext uri="{FF2B5EF4-FFF2-40B4-BE49-F238E27FC236}">
                <a16:creationId xmlns:a16="http://schemas.microsoft.com/office/drawing/2014/main" id="{6E33607A-D7B5-3D9F-10E2-7F11CFB47B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9760" y="1770465"/>
            <a:ext cx="8412480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3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F240E-5CBB-B010-9BE7-6C52EBFA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EFFDD972-016E-A47D-41E3-18CA3C050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D784969-F550-FBB1-4D83-A92CD14B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03" y="591577"/>
            <a:ext cx="10515600" cy="1325563"/>
          </a:xfrm>
        </p:spPr>
        <p:txBody>
          <a:bodyPr/>
          <a:lstStyle/>
          <a:p>
            <a:r>
              <a:rPr lang="es-ES" b="1" dirty="0">
                <a:solidFill>
                  <a:schemeClr val="tx2"/>
                </a:solidFill>
              </a:rPr>
              <a:t>“</a:t>
            </a:r>
            <a:r>
              <a:rPr lang="es-ES" b="1" noProof="0" dirty="0">
                <a:solidFill>
                  <a:schemeClr val="tx2"/>
                </a:solidFill>
              </a:rPr>
              <a:t>No esperamos tener datos perfectos para empezar. Empezamos para tener datos.”</a:t>
            </a:r>
          </a:p>
        </p:txBody>
      </p:sp>
      <p:pic>
        <p:nvPicPr>
          <p:cNvPr id="4" name="Image 1" descr="/sessions/fervent-festive-brahmagupta/qr_github.png">
            <a:extLst>
              <a:ext uri="{FF2B5EF4-FFF2-40B4-BE49-F238E27FC236}">
                <a16:creationId xmlns:a16="http://schemas.microsoft.com/office/drawing/2014/main" id="{D7D890D1-8DAE-43F1-477D-444521A5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121" y="1917140"/>
            <a:ext cx="3240000" cy="3240000"/>
          </a:xfrm>
          <a:prstGeom prst="rect">
            <a:avLst/>
          </a:prstGeom>
        </p:spPr>
      </p:pic>
      <p:sp>
        <p:nvSpPr>
          <p:cNvPr id="5" name="Shape 33">
            <a:extLst>
              <a:ext uri="{FF2B5EF4-FFF2-40B4-BE49-F238E27FC236}">
                <a16:creationId xmlns:a16="http://schemas.microsoft.com/office/drawing/2014/main" id="{8454432C-C7F4-48E1-1BE3-C7F702E430E0}"/>
              </a:ext>
            </a:extLst>
          </p:cNvPr>
          <p:cNvSpPr/>
          <p:nvPr/>
        </p:nvSpPr>
        <p:spPr>
          <a:xfrm>
            <a:off x="1528882" y="5178144"/>
            <a:ext cx="3840480" cy="682752"/>
          </a:xfrm>
          <a:prstGeom prst="rect">
            <a:avLst/>
          </a:prstGeom>
          <a:solidFill>
            <a:srgbClr val="242852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8" name="Text 34">
            <a:extLst>
              <a:ext uri="{FF2B5EF4-FFF2-40B4-BE49-F238E27FC236}">
                <a16:creationId xmlns:a16="http://schemas.microsoft.com/office/drawing/2014/main" id="{B4ADAB5C-64DE-119E-5F16-766468862933}"/>
              </a:ext>
            </a:extLst>
          </p:cNvPr>
          <p:cNvSpPr/>
          <p:nvPr/>
        </p:nvSpPr>
        <p:spPr>
          <a:xfrm>
            <a:off x="1366321" y="5178144"/>
            <a:ext cx="384048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github.com/</a:t>
            </a:r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apmontesp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s-CO" sz="1267" noProof="0" dirty="0"/>
          </a:p>
          <a:p>
            <a:pPr algn="ctr"/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Landslides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_-</a:t>
            </a:r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-ML-</a:t>
            </a:r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s-CO" sz="1267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AB328D0-D009-7D80-D970-6558A7E16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481" y="1938144"/>
            <a:ext cx="3240000" cy="3240000"/>
          </a:xfrm>
          <a:prstGeom prst="rect">
            <a:avLst/>
          </a:prstGeom>
        </p:spPr>
      </p:pic>
      <p:sp>
        <p:nvSpPr>
          <p:cNvPr id="14" name="Shape 33">
            <a:extLst>
              <a:ext uri="{FF2B5EF4-FFF2-40B4-BE49-F238E27FC236}">
                <a16:creationId xmlns:a16="http://schemas.microsoft.com/office/drawing/2014/main" id="{9C9011F9-3334-CA68-729D-3896EC47585A}"/>
              </a:ext>
            </a:extLst>
          </p:cNvPr>
          <p:cNvSpPr/>
          <p:nvPr/>
        </p:nvSpPr>
        <p:spPr>
          <a:xfrm>
            <a:off x="6060242" y="5178144"/>
            <a:ext cx="3840480" cy="682752"/>
          </a:xfrm>
          <a:prstGeom prst="rect">
            <a:avLst/>
          </a:prstGeom>
          <a:solidFill>
            <a:srgbClr val="242852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15" name="Text 34">
            <a:extLst>
              <a:ext uri="{FF2B5EF4-FFF2-40B4-BE49-F238E27FC236}">
                <a16:creationId xmlns:a16="http://schemas.microsoft.com/office/drawing/2014/main" id="{47087582-E767-B37C-1C29-627810EC5222}"/>
              </a:ext>
            </a:extLst>
          </p:cNvPr>
          <p:cNvSpPr/>
          <p:nvPr/>
        </p:nvSpPr>
        <p:spPr>
          <a:xfrm>
            <a:off x="6060241" y="5178144"/>
            <a:ext cx="384048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s-CO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https://landslides-applied-ml-coursez.streamlit.app/</a:t>
            </a:r>
            <a:endParaRPr lang="es-CO" sz="1267" noProof="0" dirty="0"/>
          </a:p>
        </p:txBody>
      </p:sp>
    </p:spTree>
    <p:extLst>
      <p:ext uri="{BB962C8B-B14F-4D97-AF65-F5344CB8AC3E}">
        <p14:creationId xmlns:p14="http://schemas.microsoft.com/office/powerpoint/2010/main" val="1576064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456B-6A2F-9B28-6327-F7A33049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BC4BDD75-34DE-321D-809A-EA0508E7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F52931A-D965-598A-7606-129DC17E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Referencias</a:t>
            </a: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2A1FD01-0F83-9200-BCCE-3898C76DA106}"/>
              </a:ext>
            </a:extLst>
          </p:cNvPr>
          <p:cNvSpPr/>
          <p:nvPr/>
        </p:nvSpPr>
        <p:spPr>
          <a:xfrm>
            <a:off x="921828" y="1477413"/>
            <a:ext cx="9421052" cy="406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600" b="1" dirty="0"/>
              <a:t>[1]</a:t>
            </a:r>
            <a:r>
              <a:rPr lang="es-ES" sz="1600" dirty="0"/>
              <a:t> Centre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Research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Epidemiology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Disasters</a:t>
            </a:r>
            <a:r>
              <a:rPr lang="es-ES" sz="1600" dirty="0"/>
              <a:t> (CRED), "EM-DAT: </a:t>
            </a:r>
            <a:r>
              <a:rPr lang="es-ES" sz="1600" dirty="0" err="1"/>
              <a:t>The</a:t>
            </a:r>
            <a:r>
              <a:rPr lang="es-ES" sz="1600" dirty="0"/>
              <a:t> International </a:t>
            </a:r>
            <a:r>
              <a:rPr lang="es-ES" sz="1600" dirty="0" err="1"/>
              <a:t>Disaster</a:t>
            </a:r>
            <a:r>
              <a:rPr lang="es-ES" sz="1600" dirty="0"/>
              <a:t> </a:t>
            </a:r>
            <a:r>
              <a:rPr lang="es-ES" sz="1600" dirty="0" err="1"/>
              <a:t>Database</a:t>
            </a:r>
            <a:r>
              <a:rPr lang="es-ES" sz="1600" dirty="0"/>
              <a:t>," </a:t>
            </a:r>
            <a:r>
              <a:rPr lang="es-ES" sz="1600" dirty="0" err="1"/>
              <a:t>Université</a:t>
            </a:r>
            <a:r>
              <a:rPr lang="es-ES" sz="1600" dirty="0"/>
              <a:t> </a:t>
            </a:r>
            <a:r>
              <a:rPr lang="es-ES" sz="1600" dirty="0" err="1"/>
              <a:t>Catholique</a:t>
            </a:r>
            <a:r>
              <a:rPr lang="es-ES" sz="1600" dirty="0"/>
              <a:t> de </a:t>
            </a:r>
            <a:r>
              <a:rPr lang="es-ES" sz="1600" dirty="0" err="1"/>
              <a:t>Louvain</a:t>
            </a:r>
            <a:r>
              <a:rPr lang="es-ES" sz="1600" dirty="0"/>
              <a:t>, </a:t>
            </a:r>
            <a:r>
              <a:rPr lang="es-ES" sz="1600" dirty="0" err="1"/>
              <a:t>Brussels</a:t>
            </a:r>
            <a:r>
              <a:rPr lang="es-ES" sz="1600" dirty="0"/>
              <a:t>, </a:t>
            </a:r>
            <a:r>
              <a:rPr lang="es-ES" sz="1600" dirty="0" err="1"/>
              <a:t>Belgium</a:t>
            </a:r>
            <a:r>
              <a:rPr lang="es-ES" sz="1600" dirty="0"/>
              <a:t>. [Online]. </a:t>
            </a:r>
            <a:r>
              <a:rPr lang="es-ES" sz="1600" dirty="0" err="1"/>
              <a:t>Available</a:t>
            </a:r>
            <a:r>
              <a:rPr lang="es-ES" sz="1600" dirty="0"/>
              <a:t>: </a:t>
            </a:r>
            <a:r>
              <a:rPr lang="es-ES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www.emdat.be</a:t>
            </a:r>
            <a:endParaRPr lang="es-ES" sz="1600" dirty="0"/>
          </a:p>
          <a:p>
            <a:r>
              <a:rPr lang="es-ES" sz="1600" b="1" dirty="0"/>
              <a:t>[2]</a:t>
            </a:r>
            <a:r>
              <a:rPr lang="es-ES" sz="1600" dirty="0"/>
              <a:t> J. Ayala-García and C. Ospino-Ramos, "Desastres naturales en Colombia," Banco de la República, Bogotá, Colombia, 2019.</a:t>
            </a:r>
          </a:p>
          <a:p>
            <a:r>
              <a:rPr lang="es-ES" sz="1600" b="1" dirty="0"/>
              <a:t>[3]</a:t>
            </a:r>
            <a:r>
              <a:rPr lang="es-ES" sz="1600" dirty="0"/>
              <a:t> Servicio Geológico Colombiano (SGC), </a:t>
            </a:r>
            <a:r>
              <a:rPr lang="es-ES" sz="1600" i="1" dirty="0"/>
              <a:t>Las amenazas por movimientos en masa de Colombia</a:t>
            </a:r>
            <a:r>
              <a:rPr lang="es-ES" sz="1600" dirty="0"/>
              <a:t>, Bogotá, Colombia, 2017.</a:t>
            </a:r>
          </a:p>
          <a:p>
            <a:r>
              <a:rPr lang="es-ES" sz="1600" b="1" dirty="0"/>
              <a:t>[4]</a:t>
            </a:r>
            <a:r>
              <a:rPr lang="es-ES" sz="1600" dirty="0"/>
              <a:t> J. Wang and A. </a:t>
            </a:r>
            <a:r>
              <a:rPr lang="es-ES" sz="1600" dirty="0" err="1"/>
              <a:t>Brenning</a:t>
            </a:r>
            <a:r>
              <a:rPr lang="es-ES" sz="1600" dirty="0"/>
              <a:t>, "Transfer </a:t>
            </a:r>
            <a:r>
              <a:rPr lang="es-ES" sz="1600" dirty="0" err="1"/>
              <a:t>learning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landslide</a:t>
            </a:r>
            <a:r>
              <a:rPr lang="es-ES" sz="1600" dirty="0"/>
              <a:t> </a:t>
            </a:r>
            <a:r>
              <a:rPr lang="es-ES" sz="1600" dirty="0" err="1"/>
              <a:t>mapping</a:t>
            </a:r>
            <a:r>
              <a:rPr lang="es-ES" sz="1600" dirty="0"/>
              <a:t>," </a:t>
            </a:r>
            <a:r>
              <a:rPr lang="es-ES" sz="1600" i="1" dirty="0" err="1"/>
              <a:t>Comput</a:t>
            </a:r>
            <a:r>
              <a:rPr lang="es-ES" sz="1600" i="1" dirty="0"/>
              <a:t>. </a:t>
            </a:r>
            <a:r>
              <a:rPr lang="es-ES" sz="1600" i="1" dirty="0" err="1"/>
              <a:t>Geosci</a:t>
            </a:r>
            <a:r>
              <a:rPr lang="es-ES" sz="1600" i="1" dirty="0"/>
              <a:t>.</a:t>
            </a:r>
            <a:r>
              <a:rPr lang="es-ES" sz="1600" dirty="0"/>
              <a:t>, vol. 163, p. 105109, 2023.</a:t>
            </a:r>
          </a:p>
          <a:p>
            <a:r>
              <a:rPr lang="es-ES" sz="1600" b="1" dirty="0"/>
              <a:t>[5]</a:t>
            </a:r>
            <a:r>
              <a:rPr lang="es-ES" sz="1600" dirty="0"/>
              <a:t> Q. Zhu, R. Zhou, and L. Liu, "Landslide4Sense: Reference </a:t>
            </a:r>
            <a:r>
              <a:rPr lang="es-ES" sz="1600" dirty="0" err="1"/>
              <a:t>Benchmark</a:t>
            </a:r>
            <a:r>
              <a:rPr lang="es-ES" sz="1600" dirty="0"/>
              <a:t> Data and Deep Learning </a:t>
            </a:r>
            <a:r>
              <a:rPr lang="es-ES" sz="1600" dirty="0" err="1"/>
              <a:t>Models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Landslide</a:t>
            </a:r>
            <a:r>
              <a:rPr lang="es-ES" sz="1600" dirty="0"/>
              <a:t> </a:t>
            </a:r>
            <a:r>
              <a:rPr lang="es-ES" sz="1600" dirty="0" err="1"/>
              <a:t>Detection</a:t>
            </a:r>
            <a:r>
              <a:rPr lang="es-ES" sz="1600" dirty="0"/>
              <a:t>," </a:t>
            </a:r>
            <a:r>
              <a:rPr lang="es-ES" sz="1600" i="1" dirty="0"/>
              <a:t>IEEE Trans. </a:t>
            </a:r>
            <a:r>
              <a:rPr lang="es-ES" sz="1600" i="1" dirty="0" err="1"/>
              <a:t>Geosci</a:t>
            </a:r>
            <a:r>
              <a:rPr lang="es-ES" sz="1600" i="1" dirty="0"/>
              <a:t>. Remote </a:t>
            </a:r>
            <a:r>
              <a:rPr lang="es-ES" sz="1600" i="1" dirty="0" err="1"/>
              <a:t>Sens</a:t>
            </a:r>
            <a:r>
              <a:rPr lang="es-ES" sz="1600" i="1" dirty="0"/>
              <a:t>.</a:t>
            </a:r>
            <a:r>
              <a:rPr lang="es-ES" sz="1600" dirty="0"/>
              <a:t>, vol. 61, pp. 1–13, 2022, </a:t>
            </a:r>
            <a:r>
              <a:rPr lang="es-ES" sz="1600" dirty="0" err="1"/>
              <a:t>doi</a:t>
            </a:r>
            <a:r>
              <a:rPr lang="es-ES" sz="1600" dirty="0"/>
              <a:t>: 10.1109/TGRS.2022.3215209.</a:t>
            </a:r>
          </a:p>
          <a:p>
            <a:endParaRPr lang="es-ES" sz="1600" dirty="0"/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3957221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1147</TotalTime>
  <Words>668</Words>
  <Application>Microsoft Office PowerPoint</Application>
  <PresentationFormat>Panorámica</PresentationFormat>
  <Paragraphs>98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de Office</vt:lpstr>
      <vt:lpstr>Detección de deslizamientos de Laderas con Machine Learning – Landslide4Sense</vt:lpstr>
      <vt:lpstr>Contexto</vt:lpstr>
      <vt:lpstr>Dataset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“No esperamos tener datos perfectos para empezar. Empezamos para tener datos.”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Ana Montes</cp:lastModifiedBy>
  <cp:revision>71</cp:revision>
  <dcterms:created xsi:type="dcterms:W3CDTF">2026-02-17T01:25:02Z</dcterms:created>
  <dcterms:modified xsi:type="dcterms:W3CDTF">2026-05-29T22:33:50Z</dcterms:modified>
</cp:coreProperties>
</file>