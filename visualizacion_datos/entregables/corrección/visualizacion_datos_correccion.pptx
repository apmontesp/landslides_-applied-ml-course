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3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63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9067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8461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1338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804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516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121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276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7818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0648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9070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470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0817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423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74422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9927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535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086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57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369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Deslizamientos con Machine Learning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modelo usar como punto de partida en Colombia?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BA7C0"/>
                </a:solidFill>
              </a:rPr>
              <a:t>Visualización de Datos  ·  Universidad EAFIT  ·  Ana Patricia Montes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029968" cy="32004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eventos anuales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en Colombia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Fuente: SGC 2023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2029968" cy="320040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450592" y="96012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450592" y="210312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datasets etiquetados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colombianos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50592" y="30175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Sin datos propios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822960"/>
            <a:ext cx="2029968" cy="320040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26864" y="96012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26864" y="210312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bandas satelitales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analizadas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6864" y="30175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Sentinel-1/2 + DEM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822960"/>
            <a:ext cx="2029968" cy="320040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03136" y="960120"/>
            <a:ext cx="2029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803136" y="210312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modelos evaluados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</a:rPr>
              <a:t>(ML + DL)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03136" y="301752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Landslide4Sense dataset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DC2626"/>
                </a:solidFill>
              </a:rPr>
              <a:t>Este trabajo no entrena un modelo colombiano — evalúa cuál modelo internacional es el mejor punto de partida.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</a:rPr>
              <a:t>Dataset: Landslide4Sense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Origen de los datos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• Nepal, Perú e Italia — tres eventos documentados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618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• Imágenes satelitales Sentinel-1, Sentinel-2 + DEM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002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• Parches 128×128 px · 14 bandas espectrales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386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• 3.799 train · 245 validación · 800 test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Modelos evaluados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2344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</a:rPr>
              <a:t>Random Forest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0" y="1234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C2626"/>
                </a:solidFill>
              </a:rPr>
              <a:t>F1 0.837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SVM (RBF)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89520" y="16184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74151"/>
                </a:solidFill>
              </a:rPr>
              <a:t>F1 0.797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0025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Logistic Reg.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0" y="20025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74151"/>
                </a:solidFill>
              </a:rPr>
              <a:t>F1 0.789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23865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ResNet-50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89520" y="23865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4748B"/>
                </a:solidFill>
              </a:rPr>
              <a:t>F1 0.784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27706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EfficientNet-B4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0" y="27706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4748B"/>
                </a:solidFill>
              </a:rPr>
              <a:t>F1 0.755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0" y="31546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U-Net ResNet-34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3154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4748B"/>
                </a:solidFill>
              </a:rPr>
              <a:t>F1 0.444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Protocolo: 5-fold cross-validation con separación geoespacial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Rendimiento global por modelo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F1-Score · 5-fold geoespacial · ordenado de mayor a menor</a:t>
            </a:r>
            <a:endParaRPr lang="en-US" sz="1050" dirty="0"/>
          </a:p>
        </p:txBody>
      </p:sp>
      <p:pic>
        <p:nvPicPr>
          <p:cNvPr id="4" name="Image 0" descr="/sessions/fervent-charming-galileo/mnt/Landslide_ML/visualizacion_datos/data/figures/nb01_h1_f1_model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841248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Precisión vs. Cobertura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RF prioriza cobertura (Recall=0.96) — crítico en detección de desastres</a:t>
            </a:r>
            <a:endParaRPr lang="en-US" sz="105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CEF0E2B-787C-D16F-4754-198B11CBC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13" y="1054412"/>
            <a:ext cx="4892503" cy="346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Poder discriminativo de canales satelitales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RedEdge3 tiene una brecha Δ=0.807 — 4× mayor que SAR-VH</a:t>
            </a:r>
            <a:endParaRPr lang="en-US" sz="1050" dirty="0"/>
          </a:p>
        </p:txBody>
      </p:sp>
      <p:pic>
        <p:nvPicPr>
          <p:cNvPr id="4" name="Image 0" descr="/sessions/fervent-charming-galileo/mnt/Landslide_ML/visualizacion_datos/data/figures/nb01_h3_cana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841248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Variabilidad entre experimentos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RF: menor dispersión entre folds — resultado más predecible</a:t>
            </a:r>
            <a:endParaRPr lang="en-US" sz="1050" dirty="0"/>
          </a:p>
        </p:txBody>
      </p:sp>
      <p:pic>
        <p:nvPicPr>
          <p:cNvPr id="4" name="Image 0" descr="/sessions/fervent-charming-galileo/mnt/Landslide_ML/visualizacion_datos/data/figures/nb01_h4_variabilid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841248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¿Los </a:t>
            </a:r>
            <a:r>
              <a:rPr lang="en-US" sz="19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9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</a:t>
            </a: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comparables?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Mismo modelo, distinto protocolo → distinto F1 reportado</a:t>
            </a:r>
            <a:endParaRPr lang="en-US" sz="10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DD5926-5DB1-F5A5-7389-17E168BA6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4" y="1012766"/>
            <a:ext cx="7184571" cy="391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¿Qué tan grande es la brecha frente al estado del arte?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RF alcanza el benchmark 2025 en cobertura — la brecha no es insalvable</a:t>
            </a:r>
            <a:endParaRPr lang="en-US" sz="105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34F153D-2480-0A5E-2A6C-E5A6A712E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924817"/>
            <a:ext cx="5003800" cy="405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¿Vale la pena invertir en arquitectura compleja?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Modelos clásicos igualan o superan a Deep Learning con mucho menor costo</a:t>
            </a:r>
            <a:endParaRPr lang="en-US" sz="1050" dirty="0"/>
          </a:p>
        </p:txBody>
      </p:sp>
      <p:pic>
        <p:nvPicPr>
          <p:cNvPr id="4" name="Image 0" descr="/sessions/fervent-charming-galileo/mnt/Landslide_ML/visualizacion_datos/data/figures/nb02_a3_complejida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841248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¿Cuál modelo elegir como punto de partida en Colombia?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RF lidera en F1, consistencia e interpretabilidad — perfil más sólido para contexto colombiano</a:t>
            </a:r>
            <a:endParaRPr lang="en-US" sz="1050" dirty="0"/>
          </a:p>
        </p:txBody>
      </p:sp>
      <p:pic>
        <p:nvPicPr>
          <p:cNvPr id="4" name="Image 0" descr="/sessions/fervent-charming-galileo/mnt/Landslide_ML/visualizacion_datos/data/figures/nb02_a4_scorec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841248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— Punto de partida para Colombia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4A1C1C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</a:rPr>
              <a:t>✗  Dataset etiquetado nacional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161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</a:rPr>
              <a:t>No existe — cualquier modelo es transferencia desde otro país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713232"/>
          </a:xfrm>
          <a:prstGeom prst="rect">
            <a:avLst/>
          </a:prstGeom>
          <a:solidFill>
            <a:srgbClr val="064E3B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Señal satelital disponible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</a:rPr>
              <a:t>Sentinel-2 RedEdge — Copernicus gratuito, revisita 5 días en Colombia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713232"/>
          </a:xfrm>
          <a:prstGeom prst="rect">
            <a:avLst/>
          </a:prstGeom>
          <a:solidFill>
            <a:srgbClr val="451A03"/>
          </a:solidFill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</a:rPr>
              <a:t>⚠  Protocolo de evaluación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8620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</a:rPr>
              <a:t>5-fold geoespacial — comparable con literatura internacional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713232"/>
          </a:xfrm>
          <a:prstGeom prst="rect">
            <a:avLst/>
          </a:prstGeom>
          <a:solidFill>
            <a:srgbClr val="064E3B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Modelo recomendado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850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5E7EB"/>
                </a:solidFill>
              </a:rPr>
              <a:t>Random Forest — interpretable, estable con pocos datos, fácil de adaptar cuando haya datos propios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0F2A47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94360" y="424281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Replicar este análisis requiere tres cosas: datos etiquetados colombianos, bandas espectrales disponibles, y un protocolo de evaluación honesto. La arquitectura viene después.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63</TotalTime>
  <Words>436</Words>
  <Application>Microsoft Office PowerPoint</Application>
  <PresentationFormat>Presentación en pantalla (16:9)</PresentationFormat>
  <Paragraphs>79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Calibri Light</vt:lpstr>
      <vt:lpstr>Rockwell</vt:lpstr>
      <vt:lpstr>Damask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Visualización de Datos — Detección de Deslizamientos ML</dc:title>
  <dc:subject>PptxGenJS Presentation</dc:subject>
  <dc:creator>PptxGenJS</dc:creator>
  <cp:lastModifiedBy>Ana Montes</cp:lastModifiedBy>
  <cp:revision>3</cp:revision>
  <dcterms:created xsi:type="dcterms:W3CDTF">2026-05-29T18:17:26Z</dcterms:created>
  <dcterms:modified xsi:type="dcterms:W3CDTF">2026-05-29T19:21:14Z</dcterms:modified>
</cp:coreProperties>
</file>