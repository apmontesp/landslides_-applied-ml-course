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Deslizamientos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Machine Learning en Colombia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3C5F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¿Qué modelo elegir cuando no hay datos propios?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BA7C0"/>
                </a:solidFill>
              </a:rPr>
              <a:t>Visualización de Datos  · 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Colombia y los deslizamientos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606040" cy="3108960"/>
          </a:xfrm>
          <a:prstGeom prst="rect">
            <a:avLst/>
          </a:prstGeom>
          <a:solidFill>
            <a:srgbClr val="FEF2F2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972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400–600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22860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eventos anuales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en Colombia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32918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Fuente: SGC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960120"/>
            <a:ext cx="2606040" cy="3108960"/>
          </a:xfrm>
          <a:prstGeom prst="rect">
            <a:avLst/>
          </a:prstGeom>
          <a:solidFill>
            <a:srgbClr val="FEF2F2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0972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200400" y="22860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datasets etiquetados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colombianos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32918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Sin datos propios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06040" cy="3108960"/>
          </a:xfrm>
          <a:prstGeom prst="rect">
            <a:avLst/>
          </a:prstGeom>
          <a:solidFill>
            <a:srgbClr val="EFF6FF"/>
          </a:solidFill>
          <a:ln w="254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10972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6035040" y="22860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bandas satelitales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analizadas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35040" y="32918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Sentinel-1/2 + DEM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42793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C2626"/>
                </a:solidFill>
              </a:rPr>
              <a:t>Este trabajo no entrena un modelo colombiano — no existen datos para eso. Evalúa cuál modelo internacional funcionaría mejor si se aplicara en Colombia.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investigación — Proyecto ML (Fase 1)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1371600"/>
          </a:xfrm>
          <a:prstGeom prst="rect">
            <a:avLst/>
          </a:prstGeom>
          <a:solidFill>
            <a:srgbClr val="EFF6FF"/>
          </a:solidFill>
          <a:ln w="254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86868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E3A5F"/>
                </a:solidFill>
              </a:rPr>
              <a:t>¿Qué enfoque de aprendizaje automático ofrece el mejor desempeño para la detección automática de deslizamientos de tierra en imágenes multisensoriales de satélite bajo condiciones de datos limitados?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23774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4151"/>
                </a:solidFill>
              </a:rPr>
              <a:t>Dataset: Landslide4Sense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27432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• 3.799 muestras de entrenamiento · 245 validación · 800 prueba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309067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• Imágenes 128×128 px · 14 bandas espectrales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343814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• Eventos en Nepal, Perú e Italia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0" y="237744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4151"/>
                </a:solidFill>
              </a:rPr>
              <a:t>Modelos evaluados: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Random Forest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635240" y="2743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F1 0.837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30906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SVM-RBF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635240" y="3090672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A8A04"/>
                </a:solidFill>
              </a:rPr>
              <a:t>F1 0.797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34381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EfficientNet-B4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35240" y="3438144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A8A04"/>
                </a:solidFill>
              </a:rPr>
              <a:t>F1 0.807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37856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U-Net+ResNet-34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635240" y="378561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F1 0.391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6817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Fuente: proyecto ML — Ana Patricia Montes · EAFIT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 de dominio: ¿por qué Colombia es un caso distinto?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4151"/>
                </a:solidFill>
              </a:rPr>
              <a:t>Los modelos entrenados en Nepal, Perú e Italia enfrentan condiciones diferentes al aplicarse en Colombia: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61872"/>
            <a:ext cx="8412480" cy="713232"/>
          </a:xfrm>
          <a:prstGeom prst="rect">
            <a:avLst/>
          </a:prstGeom>
          <a:solidFill>
            <a:srgbClr val="FEF9EE"/>
          </a:solidFill>
          <a:ln w="19050">
            <a:solidFill>
              <a:srgbClr val="CA8A0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1673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🌧  Cobertura nubosa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6093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60–80% en los Andes colombianos — limita la disponibilidad de imágenes ópticas limpias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084832"/>
            <a:ext cx="8412480" cy="713232"/>
          </a:xfrm>
          <a:prstGeom prst="rect">
            <a:avLst/>
          </a:prstGeom>
          <a:solidFill>
            <a:srgbClr val="FEF9EE"/>
          </a:solidFill>
          <a:ln w="19050">
            <a:solidFill>
              <a:srgbClr val="CA8A0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396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🌿  Densidad de vegetación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4323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Bosques húmedos tropicales con mayor densidad que los terrenos del dataset de entrenamiento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907792"/>
            <a:ext cx="8412480" cy="713232"/>
          </a:xfrm>
          <a:prstGeom prst="rect">
            <a:avLst/>
          </a:prstGeom>
          <a:solidFill>
            <a:srgbClr val="FEF9EE"/>
          </a:solidFill>
          <a:ln w="19050">
            <a:solidFill>
              <a:srgbClr val="CA8A0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96265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⛰  Contexto geomorfológico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2552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Geología y pendientes andinas distintas a Nepal o el Mediterráneo italiano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30752"/>
            <a:ext cx="8412480" cy="713232"/>
          </a:xfrm>
          <a:prstGeom prst="rect">
            <a:avLst/>
          </a:prstGeom>
          <a:solidFill>
            <a:srgbClr val="FEF9EE"/>
          </a:solidFill>
          <a:ln w="19050">
            <a:solidFill>
              <a:srgbClr val="CA8A0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78561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📉  Caída de rendimiento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407822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La literatura reporta hasta -25% en F1 al aplicar modelos sin adaptación local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DC2626"/>
                </a:solidFill>
              </a:rPr>
              <a:t>→ Por eso este trabajo evalúa consistencia y transferibilidad — no solo rendimiento promedio.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protocolo de evaluación cambia el resultado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Mismo modelo, distinto protocolo → distinto F1 reportado</a:t>
            </a:r>
            <a:endParaRPr lang="en-US" sz="1100" dirty="0"/>
          </a:p>
        </p:txBody>
      </p:sp>
      <p:pic>
        <p:nvPicPr>
          <p:cNvPr id="4" name="Image 0" descr="/sessions/fervent-charming-galileo/mnt/Landslide_ML/visualizacion_datos/data/figures/comp_a1_trampa_protocol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60120"/>
            <a:ext cx="8412480" cy="40416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comportarían los modelos internacionales aplicados en Colombia?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Modelos entrenados en Nepal, Perú e Italia — evaluados en su propio territorio vs. aplicados en Colombia sin reentrenamiento</a:t>
            </a:r>
            <a:endParaRPr lang="en-US" sz="1100" dirty="0"/>
          </a:p>
        </p:txBody>
      </p:sp>
      <p:pic>
        <p:nvPicPr>
          <p:cNvPr id="4" name="Image 0" descr="/sessions/fervent-charming-galileo/mnt/Landslide_ML/visualizacion_datos/data/figures/comp_a2_colombia_vs_literatu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60120"/>
            <a:ext cx="8412480" cy="40416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del modelo vs. resultado real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Más parámetros no garantizan mejor detección</a:t>
            </a:r>
            <a:endParaRPr lang="en-US" sz="1100" dirty="0"/>
          </a:p>
        </p:txBody>
      </p:sp>
      <p:pic>
        <p:nvPicPr>
          <p:cNvPr id="4" name="Image 0" descr="/sessions/fervent-charming-galileo/mnt/Landslide_ML/visualizacion_datos/data/figures/comp_a3_complejidad_vs_f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60120"/>
            <a:ext cx="8412480" cy="40416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canales satelitales discriminan más — y puede acceder Colombia a ellos?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RedEdge separa las clases con una brecha 4× mayor que SAR-VH · Las bandas de mayor poder discriminativo son gratuitas en Copernicus</a:t>
            </a:r>
            <a:endParaRPr lang="en-US" sz="1100" dirty="0"/>
          </a:p>
        </p:txBody>
      </p:sp>
      <p:pic>
        <p:nvPicPr>
          <p:cNvPr id="4" name="Image 0" descr="/sessions/fervent-charming-galileo/mnt/Landslide_ML/visualizacion_datos/data/figures/comp_a4_canales_fu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60120"/>
            <a:ext cx="8412480" cy="40416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modelo internacional es más estable para aplicar en Colombia?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Con datos prestados de otro país, la consistencia del modelo importa tanto como su rendimiento promedio</a:t>
            </a:r>
            <a:endParaRPr lang="en-US" sz="1100" dirty="0"/>
          </a:p>
        </p:txBody>
      </p:sp>
      <p:pic>
        <p:nvPicPr>
          <p:cNvPr id="4" name="Image 0" descr="/sessions/fervent-charming-galileo/mnt/Landslide_ML/visualizacion_datos/data/figures/comp_a5_consistencia_colomb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60120"/>
            <a:ext cx="8412480" cy="40416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visual — ¿Cuál modelo destacar?  (F1 global)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480560" y="640080"/>
            <a:ext cx="54864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21792"/>
            <a:ext cx="1371600" cy="292608"/>
          </a:xfrm>
          <a:prstGeom prst="rect">
            <a:avLst/>
          </a:prstGeom>
          <a:solidFill>
            <a:srgbClr val="E5E7E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62179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▶ Exploratoria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0" y="621792"/>
            <a:ext cx="13716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62179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✓ Aclaratoria</a:t>
            </a:r>
            <a:endParaRPr lang="en-US" sz="900" dirty="0"/>
          </a:p>
        </p:txBody>
      </p:sp>
      <p:pic>
        <p:nvPicPr>
          <p:cNvPr id="8" name="Image 0" descr="/sessions/fervent-charming-galileo/mnt/Landslide_ML/visualizacion_datos/data/figures/comp_e1_f1_explora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41832"/>
            <a:ext cx="4160520" cy="3127248"/>
          </a:xfrm>
          <a:prstGeom prst="rect">
            <a:avLst/>
          </a:prstGeom>
        </p:spPr>
      </p:pic>
      <p:pic>
        <p:nvPicPr>
          <p:cNvPr id="9" name="Image 1" descr="/sessions/fervent-charming-galileo/mnt/Landslide_ML/visualizacion_datos/data/figures/comp_a1_trampa_protocol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53712" y="941832"/>
            <a:ext cx="4315968" cy="31272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" y="4133088"/>
            <a:ext cx="8595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74151"/>
                </a:solidFill>
              </a:rPr>
              <a:t>🔴 Decisión: se eliminó la barra genérica por modelo y se separaron los protocolos de evaluación en paneles. El color rojo sólo marca el protocolo que infla el F1 — el lector identifica la trampa de un vistazo, sin leer el eje.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visual — ¿Qué tan cerca está Colombia de la literatura?  (P vs R)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480560" y="640080"/>
            <a:ext cx="54864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21792"/>
            <a:ext cx="1371600" cy="292608"/>
          </a:xfrm>
          <a:prstGeom prst="rect">
            <a:avLst/>
          </a:prstGeom>
          <a:solidFill>
            <a:srgbClr val="E5E7E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62179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▶ Exploratoria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0" y="621792"/>
            <a:ext cx="13716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62179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✓ Aclaratoria</a:t>
            </a:r>
            <a:endParaRPr lang="en-US" sz="900" dirty="0"/>
          </a:p>
        </p:txBody>
      </p:sp>
      <p:pic>
        <p:nvPicPr>
          <p:cNvPr id="8" name="Image 0" descr="/sessions/fervent-charming-galileo/mnt/Landslide_ML/visualizacion_datos/data/figures/comp_e2_pr_explora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41832"/>
            <a:ext cx="4160520" cy="3127248"/>
          </a:xfrm>
          <a:prstGeom prst="rect">
            <a:avLst/>
          </a:prstGeom>
        </p:spPr>
      </p:pic>
      <p:pic>
        <p:nvPicPr>
          <p:cNvPr id="9" name="Image 1" descr="/sessions/fervent-charming-galileo/mnt/Landslide_ML/visualizacion_datos/data/figures/comp_a2_colombia_vs_literatu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53712" y="941832"/>
            <a:ext cx="4315968" cy="31272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" y="4133088"/>
            <a:ext cx="8595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74151"/>
                </a:solidFill>
              </a:rPr>
              <a:t>🔴 Decisión: se incorporaron curvas ISO-F1 de la literatura (Nepal, Perú, Italia) como referencia de distancia. Sin ellas, los puntos flotan sin contexto; con ellas, el lector ve inmediatamente cuánto falta para alcanzar el estado del arte.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visual — ¿Cuál modelo es más consistente?  (varianza por folds)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480560" y="640080"/>
            <a:ext cx="54864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21792"/>
            <a:ext cx="1371600" cy="292608"/>
          </a:xfrm>
          <a:prstGeom prst="rect">
            <a:avLst/>
          </a:prstGeom>
          <a:solidFill>
            <a:srgbClr val="E5E7E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62179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▶ Exploratoria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0" y="621792"/>
            <a:ext cx="13716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62179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✓ Aclaratoria</a:t>
            </a:r>
            <a:endParaRPr lang="en-US" sz="900" dirty="0"/>
          </a:p>
        </p:txBody>
      </p:sp>
      <p:pic>
        <p:nvPicPr>
          <p:cNvPr id="8" name="Image 0" descr="/sessions/fervent-charming-galileo/mnt/Landslide_ML/visualizacion_datos/data/figures/comp_e3_folds_explora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41832"/>
            <a:ext cx="4160520" cy="3127248"/>
          </a:xfrm>
          <a:prstGeom prst="rect">
            <a:avLst/>
          </a:prstGeom>
        </p:spPr>
      </p:pic>
      <p:pic>
        <p:nvPicPr>
          <p:cNvPr id="9" name="Image 1" descr="/sessions/fervent-charming-galileo/mnt/Landslide_ML/visualizacion_datos/data/figures/comp_a5_consistencia_colombi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53712" y="941832"/>
            <a:ext cx="4315968" cy="31272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" y="4133088"/>
            <a:ext cx="8595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74151"/>
                </a:solidFill>
              </a:rPr>
              <a:t>🔴 Decisión: se añadió color rojo al boxplot de Random Forest y una línea de mediana anotada. En la versión exploratoria todos los modelos tienen el mismo peso visual — la versión aclaratoria guía la mirada hacia la conclusión: RF tiene la caja más estrecha y la mediana más alta.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— Lo que necesita Colombia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713232"/>
          </a:xfrm>
          <a:prstGeom prst="rect">
            <a:avLst/>
          </a:prstGeom>
          <a:solidFill>
            <a:srgbClr val="4A1C1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96012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✗  Dataset etiquetado nacional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No existe aún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719072"/>
            <a:ext cx="8229600" cy="713232"/>
          </a:xfrm>
          <a:prstGeom prst="rect">
            <a:avLst/>
          </a:prstGeom>
          <a:solidFill>
            <a:srgbClr val="064E3B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764792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4D399"/>
                </a:solidFill>
              </a:rPr>
              <a:t>✓  Señal satelital disponible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066544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Sentinel-2 RedEdge — Copernicus gratuito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523744"/>
            <a:ext cx="8229600" cy="713232"/>
          </a:xfrm>
          <a:prstGeom prst="rect">
            <a:avLst/>
          </a:prstGeom>
          <a:solidFill>
            <a:srgbClr val="451A03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569464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CD34D"/>
                </a:solidFill>
              </a:rPr>
              <a:t>⚠  Protocolo de evaluación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871216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Usar 5 folds, comparable a literatura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328416"/>
            <a:ext cx="8229600" cy="713232"/>
          </a:xfrm>
          <a:prstGeom prst="rect">
            <a:avLst/>
          </a:prstGeom>
          <a:solidFill>
            <a:srgbClr val="064E3B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374136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4D399"/>
                </a:solidFill>
              </a:rPr>
              <a:t>✓  Punto de partida recomendado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675888"/>
            <a:ext cx="7863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Random Forest entrenado internacionalmente — estable, interpretable, adaptable cuando haya datos propios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187952"/>
            <a:ext cx="8229600" cy="749808"/>
          </a:xfrm>
          <a:prstGeom prst="rect">
            <a:avLst/>
          </a:prstGeom>
          <a:solidFill>
            <a:srgbClr val="0F2A4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224528"/>
            <a:ext cx="79552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Replicar este análisis requiere tres cosas: datos etiquetados colombianos, bandas espectrales disponibles, y un protocolo de evaluación honesto. La arquitectura viene después.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Deslizamientos con ML — Colombia</dc:title>
  <dc:subject>PptxGenJS Presentation</dc:subject>
  <dc:creator>PptxGenJS</dc:creator>
  <cp:lastModifiedBy>PptxGenJS</cp:lastModifiedBy>
  <cp:revision>1</cp:revision>
  <dcterms:created xsi:type="dcterms:W3CDTF">2026-05-29T15:58:52Z</dcterms:created>
  <dcterms:modified xsi:type="dcterms:W3CDTF">2026-05-29T15:58:52Z</dcterms:modified>
</cp:coreProperties>
</file>